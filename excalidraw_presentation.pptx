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80D42-86AE-428E-830D-4B777FE986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9A2D4D-7D9D-305D-C406-F692CC2F64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26FFD0-C8B1-B4B8-D331-753FBD7A82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133D6-2B31-0E62-28ED-B12E704779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A81D11-ABDE-642B-8CF7-7E6CF8ECCA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5E292-788D-14D6-D0D3-3713E914BF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D5144A-6737-A8E0-864B-09B07E6B59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C33BD9-BF9C-2DB9-5C3D-358D027239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4E19A6-86D9-8583-0EA0-DFA7FDAED7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345EAA-5B79-E34B-1B99-AEB05B62F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35194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67470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10424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655116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9520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770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70163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53308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4912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5327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68546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46241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155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861073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6304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812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296030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49221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51513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814381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8515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092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33741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39952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69662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47994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16542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616303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91396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549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0174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88669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8069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07572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52999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4767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22342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778605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66990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13433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241047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13324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52402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99644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585513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81619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15964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3298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93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16373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04545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82493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6613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4815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7232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96568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52650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2177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52173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52920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34626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78850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9626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765509" name="TextBox 1"/>
          <p:cNvSpPr txBox="1"/>
          <p:nvPr/>
        </p:nvSpPr>
        <p:spPr bwMode="auto">
          <a:xfrm>
            <a:off x="1333466" y="1714500"/>
            <a:ext cx="9524761" cy="1428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5600">
                <a:solidFill>
                  <a:srgbClr val="1E1E1E"/>
                </a:solidFill>
                <a:latin typeface="Calibri"/>
              </a:defRPr>
            </a:pPr>
            <a:r>
              <a:rPr/>
              <a:t>POLITICIAN CLAIM</a:t>
            </a:r>
            <a:br>
              <a:rPr/>
            </a:br>
            <a:r>
              <a:rPr/>
              <a:t>CONSISTENCY TRACKER</a:t>
            </a:r>
            <a:endParaRPr/>
          </a:p>
        </p:txBody>
      </p:sp>
      <p:sp>
        <p:nvSpPr>
          <p:cNvPr id="2003399548" name="TextBox 2"/>
          <p:cNvSpPr txBox="1"/>
          <p:nvPr/>
        </p:nvSpPr>
        <p:spPr bwMode="auto">
          <a:xfrm>
            <a:off x="1333466" y="3429000"/>
            <a:ext cx="9524761" cy="476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>
                <a:solidFill>
                  <a:srgbClr val="1E1E1E"/>
                </a:solidFill>
                <a:latin typeface="Calibri"/>
              </a:defRPr>
            </a:pPr>
            <a:r>
              <a:rPr/>
              <a:t>Real-Time Self-Contradiction Detection Using Cognee Temporal Graph Memory</a:t>
            </a:r>
            <a:endParaRPr/>
          </a:p>
        </p:txBody>
      </p:sp>
      <p:sp>
        <p:nvSpPr>
          <p:cNvPr id="262103431" name="TextBox 3"/>
          <p:cNvSpPr txBox="1"/>
          <p:nvPr/>
        </p:nvSpPr>
        <p:spPr bwMode="auto">
          <a:xfrm>
            <a:off x="1333466" y="4000500"/>
            <a:ext cx="9524761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>
                <a:solidFill>
                  <a:srgbClr val="1E1E1E"/>
                </a:solidFill>
                <a:latin typeface="Calibri"/>
              </a:defRPr>
            </a:pPr>
            <a:r>
              <a:rPr/>
              <a:t>FastAPI  •  Chrome Extension  •  Hybrid Verdict Engine (NLI + Numeric Diff)</a:t>
            </a:r>
            <a:endParaRPr/>
          </a:p>
        </p:txBody>
      </p:sp>
      <p:sp>
        <p:nvSpPr>
          <p:cNvPr id="918095037" name="Oval 4"/>
          <p:cNvSpPr/>
          <p:nvPr/>
        </p:nvSpPr>
        <p:spPr bwMode="auto">
          <a:xfrm>
            <a:off x="5667233" y="4905375"/>
            <a:ext cx="857228" cy="857250"/>
          </a:xfrm>
          <a:prstGeom prst="ellipse">
            <a:avLst/>
          </a:prstGeom>
          <a:solidFill>
            <a:srgbClr val="D0EBFF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840260" name="TextBox 5"/>
          <p:cNvSpPr txBox="1"/>
          <p:nvPr/>
        </p:nvSpPr>
        <p:spPr bwMode="auto">
          <a:xfrm>
            <a:off x="5762480" y="5181599"/>
            <a:ext cx="666733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COGNITIVE</a:t>
            </a:r>
            <a:br>
              <a:rPr/>
            </a:br>
            <a:r>
              <a:rPr/>
              <a:t>MEMORY</a:t>
            </a:r>
            <a:endParaRPr/>
          </a:p>
        </p:txBody>
      </p:sp>
      <p:sp>
        <p:nvSpPr>
          <p:cNvPr id="730658047" name="Oval 6"/>
          <p:cNvSpPr/>
          <p:nvPr/>
        </p:nvSpPr>
        <p:spPr bwMode="auto">
          <a:xfrm>
            <a:off x="4476638" y="5048250"/>
            <a:ext cx="571485" cy="571500"/>
          </a:xfrm>
          <a:prstGeom prst="ellipse">
            <a:avLst/>
          </a:prstGeom>
          <a:solidFill>
            <a:srgbClr val="B2F2BB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3750129" name="TextBox 7"/>
          <p:cNvSpPr txBox="1"/>
          <p:nvPr/>
        </p:nvSpPr>
        <p:spPr bwMode="auto">
          <a:xfrm>
            <a:off x="4571885" y="5191125"/>
            <a:ext cx="380990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1E1E1E"/>
                </a:solidFill>
                <a:latin typeface="Calibri"/>
              </a:defRPr>
            </a:pPr>
            <a:r>
              <a:rPr/>
              <a:t>Live Input</a:t>
            </a:r>
            <a:endParaRPr/>
          </a:p>
        </p:txBody>
      </p:sp>
      <p:sp>
        <p:nvSpPr>
          <p:cNvPr id="1033353893" name="Oval 8"/>
          <p:cNvSpPr/>
          <p:nvPr/>
        </p:nvSpPr>
        <p:spPr bwMode="auto">
          <a:xfrm>
            <a:off x="7143571" y="5048250"/>
            <a:ext cx="571485" cy="571500"/>
          </a:xfrm>
          <a:prstGeom prst="ellipse">
            <a:avLst/>
          </a:prstGeom>
          <a:solidFill>
            <a:srgbClr val="FFE3E3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599805" name="TextBox 9"/>
          <p:cNvSpPr txBox="1"/>
          <p:nvPr/>
        </p:nvSpPr>
        <p:spPr bwMode="auto">
          <a:xfrm>
            <a:off x="7238819" y="5191125"/>
            <a:ext cx="380990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1E1E1E"/>
                </a:solidFill>
                <a:latin typeface="Calibri"/>
              </a:defRPr>
            </a:pPr>
            <a:r>
              <a:rPr/>
              <a:t>Alerts</a:t>
            </a:r>
            <a:endParaRPr/>
          </a:p>
        </p:txBody>
      </p:sp>
      <p:cxnSp>
        <p:nvCxnSpPr>
          <p:cNvPr id="1291833475" name="Connector 10"/>
          <p:cNvCxnSpPr/>
          <p:nvPr/>
        </p:nvCxnSpPr>
        <p:spPr bwMode="auto">
          <a:xfrm>
            <a:off x="5095746" y="5334000"/>
            <a:ext cx="523862" cy="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678450" name="Connector 11"/>
          <p:cNvCxnSpPr/>
          <p:nvPr/>
        </p:nvCxnSpPr>
        <p:spPr bwMode="auto">
          <a:xfrm>
            <a:off x="6572085" y="5334000"/>
            <a:ext cx="523862" cy="0"/>
          </a:xfrm>
          <a:prstGeom prst="line">
            <a:avLst/>
          </a:prstGeom>
          <a:ln w="25400">
            <a:solidFill>
              <a:srgbClr val="E0313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709671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The Challenge: Accountability in Real-Time</a:t>
            </a:r>
            <a:endParaRPr/>
          </a:p>
        </p:txBody>
      </p:sp>
      <p:sp>
        <p:nvSpPr>
          <p:cNvPr id="361794126" name="Rectangle 2"/>
          <p:cNvSpPr/>
          <p:nvPr/>
        </p:nvSpPr>
        <p:spPr bwMode="auto">
          <a:xfrm>
            <a:off x="952476" y="1714500"/>
            <a:ext cx="3047923" cy="3333749"/>
          </a:xfrm>
          <a:prstGeom prst="rect">
            <a:avLst/>
          </a:prstGeom>
          <a:solidFill>
            <a:srgbClr val="F1F3F5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1693482" name="TextBox 3"/>
          <p:cNvSpPr txBox="1"/>
          <p:nvPr/>
        </p:nvSpPr>
        <p:spPr bwMode="auto">
          <a:xfrm>
            <a:off x="104772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1. Massive Speech Streams</a:t>
            </a:r>
            <a:endParaRPr/>
          </a:p>
        </p:txBody>
      </p:sp>
      <p:sp>
        <p:nvSpPr>
          <p:cNvPr id="411877138" name="TextBox 4"/>
          <p:cNvSpPr txBox="1"/>
          <p:nvPr/>
        </p:nvSpPr>
        <p:spPr bwMode="auto">
          <a:xfrm>
            <a:off x="1095346" y="2190748"/>
            <a:ext cx="2762899" cy="195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Politicians deliver continuous statements across TV, social media, and live debates.</a:t>
            </a:r>
            <a:br>
              <a:rPr/>
            </a:br>
            <a:br>
              <a:rPr/>
            </a:br>
            <a:r>
              <a:rPr/>
              <a:t>Tracking their claims manually at scale is impossible.</a:t>
            </a:r>
            <a:endParaRPr/>
          </a:p>
        </p:txBody>
      </p:sp>
      <p:sp>
        <p:nvSpPr>
          <p:cNvPr id="763549135" name="Rectangle 5"/>
          <p:cNvSpPr/>
          <p:nvPr/>
        </p:nvSpPr>
        <p:spPr bwMode="auto">
          <a:xfrm>
            <a:off x="4571885" y="1714500"/>
            <a:ext cx="3047923" cy="3333749"/>
          </a:xfrm>
          <a:prstGeom prst="rect">
            <a:avLst/>
          </a:prstGeom>
          <a:solidFill>
            <a:srgbClr val="F1F3F5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405186" name="TextBox 6"/>
          <p:cNvSpPr txBox="1"/>
          <p:nvPr/>
        </p:nvSpPr>
        <p:spPr bwMode="auto">
          <a:xfrm>
            <a:off x="466713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2. Temporal Blind Spots</a:t>
            </a:r>
            <a:endParaRPr/>
          </a:p>
        </p:txBody>
      </p:sp>
      <p:sp>
        <p:nvSpPr>
          <p:cNvPr id="1097539764" name="TextBox 7"/>
          <p:cNvSpPr txBox="1"/>
          <p:nvPr/>
        </p:nvSpPr>
        <p:spPr bwMode="auto">
          <a:xfrm>
            <a:off x="4714756" y="2190748"/>
            <a:ext cx="2762899" cy="2194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Fact-checkers have to search years of historical statements manually.</a:t>
            </a:r>
            <a:br>
              <a:rPr/>
            </a:br>
            <a:br>
              <a:rPr/>
            </a:br>
            <a:r>
              <a:rPr/>
              <a:t>By the time a contradiction is flagged hours later, the news cycle has already moved on.</a:t>
            </a:r>
            <a:endParaRPr/>
          </a:p>
        </p:txBody>
      </p:sp>
      <p:sp>
        <p:nvSpPr>
          <p:cNvPr id="121995470" name="Rectangle 8"/>
          <p:cNvSpPr/>
          <p:nvPr/>
        </p:nvSpPr>
        <p:spPr bwMode="auto">
          <a:xfrm>
            <a:off x="8191295" y="1714500"/>
            <a:ext cx="3047923" cy="3333749"/>
          </a:xfrm>
          <a:prstGeom prst="rect">
            <a:avLst/>
          </a:prstGeom>
          <a:solidFill>
            <a:srgbClr val="F1F3F5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054931" name="TextBox 9"/>
          <p:cNvSpPr txBox="1"/>
          <p:nvPr/>
        </p:nvSpPr>
        <p:spPr bwMode="auto">
          <a:xfrm>
            <a:off x="8286542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3. Quantitative &amp; Qualitative Drift</a:t>
            </a:r>
            <a:endParaRPr/>
          </a:p>
        </p:txBody>
      </p:sp>
      <p:sp>
        <p:nvSpPr>
          <p:cNvPr id="1651367794" name="TextBox 10"/>
          <p:cNvSpPr txBox="1"/>
          <p:nvPr/>
        </p:nvSpPr>
        <p:spPr bwMode="auto">
          <a:xfrm>
            <a:off x="8334165" y="2190748"/>
            <a:ext cx="2762899" cy="2438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Accountability is bypassed through:</a:t>
            </a:r>
            <a:br>
              <a:rPr/>
            </a:br>
            <a:r>
              <a:rPr/>
              <a:t>• Numeric drift (changing statistics like inflation or employment metrics)</a:t>
            </a:r>
            <a:br>
              <a:rPr/>
            </a:br>
            <a:r>
              <a:rPr/>
              <a:t>• Qualitative policy flips (changing stances on key legislation).</a:t>
            </a:r>
            <a:endParaRPr/>
          </a:p>
        </p:txBody>
      </p:sp>
      <p:sp>
        <p:nvSpPr>
          <p:cNvPr id="1608688313" name="TextBox 11"/>
          <p:cNvSpPr txBox="1"/>
          <p:nvPr/>
        </p:nvSpPr>
        <p:spPr bwMode="auto">
          <a:xfrm>
            <a:off x="952476" y="5524499"/>
            <a:ext cx="10286742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>
                <a:solidFill>
                  <a:srgbClr val="1E1E1E"/>
                </a:solidFill>
                <a:latin typeface="Calibri"/>
              </a:defRPr>
            </a:pPr>
            <a:r>
              <a:rPr/>
              <a:t>Core Question: How can we instantly audit new speech claims against a speaker's own record?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24606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Fact-Checking: Retrospective vs. Instant</a:t>
            </a:r>
            <a:endParaRPr/>
          </a:p>
        </p:txBody>
      </p:sp>
      <p:sp>
        <p:nvSpPr>
          <p:cNvPr id="1238872607" name="Rectangle 2"/>
          <p:cNvSpPr/>
          <p:nvPr/>
        </p:nvSpPr>
        <p:spPr bwMode="auto">
          <a:xfrm>
            <a:off x="1428714" y="1714500"/>
            <a:ext cx="4000399" cy="3333749"/>
          </a:xfrm>
          <a:prstGeom prst="rect">
            <a:avLst/>
          </a:prstGeom>
          <a:solidFill>
            <a:srgbClr val="F1F3F5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918240" name="TextBox 3"/>
          <p:cNvSpPr txBox="1"/>
          <p:nvPr/>
        </p:nvSpPr>
        <p:spPr bwMode="auto">
          <a:xfrm>
            <a:off x="1523961" y="1857375"/>
            <a:ext cx="3809904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Traditional Manual Auditing</a:t>
            </a:r>
            <a:endParaRPr/>
          </a:p>
        </p:txBody>
      </p:sp>
      <p:sp>
        <p:nvSpPr>
          <p:cNvPr id="1557873252" name="TextBox 4"/>
          <p:cNvSpPr txBox="1"/>
          <p:nvPr/>
        </p:nvSpPr>
        <p:spPr bwMode="auto">
          <a:xfrm>
            <a:off x="1571584" y="2190748"/>
            <a:ext cx="3715016" cy="2444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❌ Retrospective: Done hours or days after the event.</a:t>
            </a:r>
            <a:br>
              <a:rPr/>
            </a:br>
            <a:br>
              <a:rPr/>
            </a:br>
            <a:r>
              <a:rPr/>
              <a:t>❌ Subjective: Often tries to define absolute truth, leading to political bias debates.</a:t>
            </a:r>
            <a:br>
              <a:rPr/>
            </a:br>
            <a:br>
              <a:rPr/>
            </a:br>
            <a:r>
              <a:rPr/>
              <a:t>❌ Offline &amp; Disjointed: Fact-checkers must execute disconnected queries across isolated transcript archives.</a:t>
            </a:r>
            <a:endParaRPr/>
          </a:p>
        </p:txBody>
      </p:sp>
      <p:sp>
        <p:nvSpPr>
          <p:cNvPr id="1322898804" name="TextBox 5"/>
          <p:cNvSpPr txBox="1"/>
          <p:nvPr/>
        </p:nvSpPr>
        <p:spPr bwMode="auto">
          <a:xfrm>
            <a:off x="5810104" y="3047999"/>
            <a:ext cx="571485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>
                <a:solidFill>
                  <a:srgbClr val="1E1E1E"/>
                </a:solidFill>
                <a:latin typeface="Calibri"/>
              </a:defRPr>
            </a:pPr>
            <a:r>
              <a:rPr/>
              <a:t>VS</a:t>
            </a:r>
            <a:endParaRPr/>
          </a:p>
        </p:txBody>
      </p:sp>
      <p:sp>
        <p:nvSpPr>
          <p:cNvPr id="1619350918" name="Rectangle 6"/>
          <p:cNvSpPr/>
          <p:nvPr/>
        </p:nvSpPr>
        <p:spPr bwMode="auto">
          <a:xfrm>
            <a:off x="6762580" y="1714500"/>
            <a:ext cx="4000399" cy="3333749"/>
          </a:xfrm>
          <a:prstGeom prst="rect">
            <a:avLst/>
          </a:prstGeom>
          <a:solidFill>
            <a:srgbClr val="B2F2BB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8655086" name="TextBox 7"/>
          <p:cNvSpPr txBox="1"/>
          <p:nvPr/>
        </p:nvSpPr>
        <p:spPr bwMode="auto">
          <a:xfrm>
            <a:off x="6857828" y="1857375"/>
            <a:ext cx="3809904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Automated Self-Consistency Tracker</a:t>
            </a:r>
            <a:endParaRPr/>
          </a:p>
        </p:txBody>
      </p:sp>
      <p:sp>
        <p:nvSpPr>
          <p:cNvPr id="1464123966" name="TextBox 8"/>
          <p:cNvSpPr txBox="1"/>
          <p:nvPr/>
        </p:nvSpPr>
        <p:spPr bwMode="auto">
          <a:xfrm>
            <a:off x="6905451" y="2190748"/>
            <a:ext cx="3715016" cy="27520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✅ Real-Time: Scrapes live browser captions and yields checks in under 2 seconds.</a:t>
            </a:r>
            <a:br>
              <a:rPr/>
            </a:br>
            <a:br>
              <a:rPr/>
            </a:br>
            <a:r>
              <a:rPr/>
              <a:t>✅ Objective: Measures self-consistency—evaluating a speaker solely against their own public statements.</a:t>
            </a:r>
            <a:br>
              <a:rPr/>
            </a:br>
            <a:br>
              <a:rPr/>
            </a:br>
            <a:r>
              <a:rPr/>
              <a:t>✅ Context-Aware: Uses Cognee's temporal graphs to retrieve prior assertions pre-dating the speech.</a:t>
            </a:r>
            <a:endParaRPr/>
          </a:p>
        </p:txBody>
      </p:sp>
      <p:sp>
        <p:nvSpPr>
          <p:cNvPr id="1636912824" name="TextBox 9"/>
          <p:cNvSpPr txBox="1"/>
          <p:nvPr/>
        </p:nvSpPr>
        <p:spPr bwMode="auto">
          <a:xfrm>
            <a:off x="952476" y="5524499"/>
            <a:ext cx="10286742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>
                <a:solidFill>
                  <a:srgbClr val="1E1E1E"/>
                </a:solidFill>
                <a:latin typeface="Calibri"/>
              </a:defRPr>
            </a:pPr>
            <a:r>
              <a:rPr/>
              <a:t>Our primary goal is objective accountability—holding speakers to their own documented claims.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421689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System Architecture: End-to-End Pipeline</a:t>
            </a:r>
            <a:endParaRPr/>
          </a:p>
        </p:txBody>
      </p:sp>
      <p:sp>
        <p:nvSpPr>
          <p:cNvPr id="1688775231" name="Rectangle 2"/>
          <p:cNvSpPr/>
          <p:nvPr/>
        </p:nvSpPr>
        <p:spPr bwMode="auto">
          <a:xfrm>
            <a:off x="619828" y="2286000"/>
            <a:ext cx="2285942" cy="2286000"/>
          </a:xfrm>
          <a:prstGeom prst="rect">
            <a:avLst/>
          </a:prstGeom>
          <a:solidFill>
            <a:srgbClr val="F1F3F5"/>
          </a:solidFill>
          <a:ln w="25400">
            <a:solidFill>
              <a:srgbClr val="E0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222848" name="TextBox 3"/>
          <p:cNvSpPr txBox="1"/>
          <p:nvPr/>
        </p:nvSpPr>
        <p:spPr bwMode="auto">
          <a:xfrm>
            <a:off x="857228" y="2428875"/>
            <a:ext cx="2095447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1. Browser / YouTube</a:t>
            </a:r>
            <a:endParaRPr/>
          </a:p>
        </p:txBody>
      </p:sp>
      <p:sp>
        <p:nvSpPr>
          <p:cNvPr id="1000645506" name="TextBox 4"/>
          <p:cNvSpPr txBox="1"/>
          <p:nvPr/>
        </p:nvSpPr>
        <p:spPr bwMode="auto">
          <a:xfrm>
            <a:off x="904851" y="2762248"/>
            <a:ext cx="2000918" cy="1463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DOM caption scraping</a:t>
            </a:r>
            <a:br>
              <a:rPr/>
            </a:br>
            <a:r>
              <a:rPr/>
              <a:t>or web audio capture.</a:t>
            </a:r>
            <a:br>
              <a:rPr/>
            </a:br>
            <a:r>
              <a:rPr/>
              <a:t>Groups word stream</a:t>
            </a:r>
            <a:br>
              <a:rPr/>
            </a:br>
            <a:r>
              <a:rPr/>
              <a:t>into full sentences.</a:t>
            </a:r>
            <a:endParaRPr/>
          </a:p>
        </p:txBody>
      </p:sp>
      <p:cxnSp>
        <p:nvCxnSpPr>
          <p:cNvPr id="2043865900" name="Connector 5"/>
          <p:cNvCxnSpPr/>
          <p:nvPr/>
        </p:nvCxnSpPr>
        <p:spPr bwMode="auto">
          <a:xfrm>
            <a:off x="3143171" y="3429000"/>
            <a:ext cx="380990" cy="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3186280" name="TextBox 6"/>
          <p:cNvSpPr txBox="1"/>
          <p:nvPr/>
        </p:nvSpPr>
        <p:spPr bwMode="auto">
          <a:xfrm>
            <a:off x="2381190" y="3238500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WebSockets</a:t>
            </a:r>
            <a:endParaRPr/>
          </a:p>
        </p:txBody>
      </p:sp>
      <p:sp>
        <p:nvSpPr>
          <p:cNvPr id="1515097993" name="Rectangle 7"/>
          <p:cNvSpPr/>
          <p:nvPr/>
        </p:nvSpPr>
        <p:spPr bwMode="auto">
          <a:xfrm>
            <a:off x="3619409" y="1904999"/>
            <a:ext cx="2285942" cy="3047999"/>
          </a:xfrm>
          <a:prstGeom prst="rect">
            <a:avLst/>
          </a:prstGeom>
          <a:solidFill>
            <a:srgbClr val="F1F3F5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127593" name="TextBox 8"/>
          <p:cNvSpPr txBox="1"/>
          <p:nvPr/>
        </p:nvSpPr>
        <p:spPr bwMode="auto">
          <a:xfrm>
            <a:off x="3714657" y="2047874"/>
            <a:ext cx="2095447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2. FastAPI Backend</a:t>
            </a:r>
            <a:endParaRPr/>
          </a:p>
        </p:txBody>
      </p:sp>
      <p:sp>
        <p:nvSpPr>
          <p:cNvPr id="1277921633" name="TextBox 9"/>
          <p:cNvSpPr txBox="1"/>
          <p:nvPr/>
        </p:nvSpPr>
        <p:spPr bwMode="auto">
          <a:xfrm>
            <a:off x="3762279" y="2381249"/>
            <a:ext cx="2002718" cy="195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</a:t>
            </a:r>
            <a:r>
              <a:rPr/>
              <a:t>WebSocket Server</a:t>
            </a:r>
            <a:br>
              <a:rPr/>
            </a:br>
            <a:r>
              <a:rPr/>
              <a:t>• Deduplication filter</a:t>
            </a:r>
            <a:br>
              <a:rPr/>
            </a:br>
            <a:r>
              <a:rPr/>
              <a:t>• Coreference parsing</a:t>
            </a:r>
            <a:br>
              <a:rPr/>
            </a:br>
            <a:r>
              <a:rPr/>
              <a:t>• Triggers comparison</a:t>
            </a:r>
            <a:br>
              <a:rPr/>
            </a:br>
            <a:r>
              <a:rPr/>
              <a:t>• Returns JSON reports</a:t>
            </a:r>
            <a:endParaRPr/>
          </a:p>
        </p:txBody>
      </p:sp>
      <p:cxnSp>
        <p:nvCxnSpPr>
          <p:cNvPr id="983891631" name="Connector 10"/>
          <p:cNvCxnSpPr/>
          <p:nvPr/>
        </p:nvCxnSpPr>
        <p:spPr bwMode="auto">
          <a:xfrm>
            <a:off x="6000599" y="3429000"/>
            <a:ext cx="380991" cy="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2808585" name="TextBox 11"/>
          <p:cNvSpPr txBox="1"/>
          <p:nvPr/>
        </p:nvSpPr>
        <p:spPr bwMode="auto">
          <a:xfrm>
            <a:off x="5238619" y="3238500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Payload</a:t>
            </a:r>
            <a:endParaRPr/>
          </a:p>
        </p:txBody>
      </p:sp>
      <p:sp>
        <p:nvSpPr>
          <p:cNvPr id="1542532882" name="Rectangle 12"/>
          <p:cNvSpPr/>
          <p:nvPr/>
        </p:nvSpPr>
        <p:spPr bwMode="auto">
          <a:xfrm>
            <a:off x="6476838" y="1904999"/>
            <a:ext cx="2285942" cy="3047999"/>
          </a:xfrm>
          <a:prstGeom prst="rect">
            <a:avLst/>
          </a:prstGeom>
          <a:solidFill>
            <a:srgbClr val="D0EBFF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502580" name="TextBox 13"/>
          <p:cNvSpPr txBox="1"/>
          <p:nvPr/>
        </p:nvSpPr>
        <p:spPr bwMode="auto">
          <a:xfrm>
            <a:off x="6572085" y="2047874"/>
            <a:ext cx="2095447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3. Cognee &amp; LLM Layer</a:t>
            </a:r>
            <a:endParaRPr/>
          </a:p>
        </p:txBody>
      </p:sp>
      <p:sp>
        <p:nvSpPr>
          <p:cNvPr id="1192693627" name="TextBox 14"/>
          <p:cNvSpPr txBox="1"/>
          <p:nvPr/>
        </p:nvSpPr>
        <p:spPr bwMode="auto">
          <a:xfrm>
            <a:off x="6619708" y="2381249"/>
            <a:ext cx="2000918" cy="195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Structured Claim Extraction</a:t>
            </a:r>
            <a:br>
              <a:rPr/>
            </a:br>
            <a:r>
              <a:rPr/>
              <a:t>• Cognee Temporal Query</a:t>
            </a:r>
            <a:br>
              <a:rPr/>
            </a:br>
            <a:r>
              <a:rPr/>
              <a:t>• Hybrid Comparison</a:t>
            </a:r>
            <a:br>
              <a:rPr/>
            </a:br>
            <a:r>
              <a:rPr/>
              <a:t>• Graph Ingestion</a:t>
            </a:r>
            <a:endParaRPr/>
          </a:p>
        </p:txBody>
      </p:sp>
      <p:cxnSp>
        <p:nvCxnSpPr>
          <p:cNvPr id="1307914021" name="Connector 15"/>
          <p:cNvCxnSpPr/>
          <p:nvPr/>
        </p:nvCxnSpPr>
        <p:spPr bwMode="auto">
          <a:xfrm>
            <a:off x="8858028" y="3429000"/>
            <a:ext cx="380991" cy="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8687577" name="TextBox 16"/>
          <p:cNvSpPr txBox="1"/>
          <p:nvPr/>
        </p:nvSpPr>
        <p:spPr bwMode="auto">
          <a:xfrm>
            <a:off x="8096047" y="3238500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Alerts</a:t>
            </a:r>
            <a:endParaRPr/>
          </a:p>
        </p:txBody>
      </p:sp>
      <p:sp>
        <p:nvSpPr>
          <p:cNvPr id="58618943" name="Rectangle 17"/>
          <p:cNvSpPr/>
          <p:nvPr/>
        </p:nvSpPr>
        <p:spPr bwMode="auto">
          <a:xfrm>
            <a:off x="9334266" y="2286000"/>
            <a:ext cx="2285942" cy="2286000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4526408" name="TextBox 18"/>
          <p:cNvSpPr txBox="1"/>
          <p:nvPr/>
        </p:nvSpPr>
        <p:spPr bwMode="auto">
          <a:xfrm>
            <a:off x="9429514" y="2428875"/>
            <a:ext cx="2095447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4. Chrome Side Panel</a:t>
            </a:r>
            <a:endParaRPr/>
          </a:p>
        </p:txBody>
      </p:sp>
      <p:sp>
        <p:nvSpPr>
          <p:cNvPr id="1092787684" name="TextBox 19"/>
          <p:cNvSpPr txBox="1"/>
          <p:nvPr/>
        </p:nvSpPr>
        <p:spPr bwMode="auto">
          <a:xfrm>
            <a:off x="9477137" y="2762248"/>
            <a:ext cx="2000918" cy="1463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Neobrutalist UI</a:t>
            </a:r>
            <a:br>
              <a:rPr/>
            </a:br>
            <a:r>
              <a:rPr/>
              <a:t>renders side-by-side</a:t>
            </a:r>
            <a:br>
              <a:rPr/>
            </a:br>
            <a:r>
              <a:rPr/>
              <a:t>contradiction cards,</a:t>
            </a:r>
            <a:br>
              <a:rPr/>
            </a:br>
            <a:r>
              <a:rPr/>
              <a:t>dates, and sources.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74440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Internal Architecture &amp; Memory Services</a:t>
            </a:r>
            <a:endParaRPr/>
          </a:p>
        </p:txBody>
      </p:sp>
      <p:sp>
        <p:nvSpPr>
          <p:cNvPr id="370649560" name="Rectangle 2"/>
          <p:cNvSpPr/>
          <p:nvPr/>
        </p:nvSpPr>
        <p:spPr bwMode="auto">
          <a:xfrm>
            <a:off x="761980" y="1523999"/>
            <a:ext cx="2476438" cy="4000500"/>
          </a:xfrm>
          <a:prstGeom prst="rect">
            <a:avLst/>
          </a:prstGeom>
          <a:solidFill>
            <a:srgbClr val="F1F3F5"/>
          </a:solidFill>
          <a:ln w="254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841653" name="TextBox 3"/>
          <p:cNvSpPr txBox="1"/>
          <p:nvPr/>
        </p:nvSpPr>
        <p:spPr bwMode="auto">
          <a:xfrm>
            <a:off x="857228" y="1666874"/>
            <a:ext cx="228594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Chrome Extension v3</a:t>
            </a:r>
            <a:endParaRPr/>
          </a:p>
        </p:txBody>
      </p:sp>
      <p:sp>
        <p:nvSpPr>
          <p:cNvPr id="222956831" name="TextBox 4"/>
          <p:cNvSpPr txBox="1"/>
          <p:nvPr/>
        </p:nvSpPr>
        <p:spPr bwMode="auto">
          <a:xfrm>
            <a:off x="904851" y="2000250"/>
            <a:ext cx="2191414" cy="2926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endParaRPr/>
          </a:p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content.js (YouTube Caption DOM Scraper &amp; mutations)</a:t>
            </a:r>
            <a:br>
              <a:rPr/>
            </a:br>
            <a:br>
              <a:rPr/>
            </a:br>
            <a:r>
              <a:rPr/>
              <a:t>• background.js (WebSocket client, connection monitor)</a:t>
            </a:r>
            <a:br>
              <a:rPr/>
            </a:br>
            <a:br>
              <a:rPr/>
            </a:br>
            <a:r>
              <a:rPr/>
              <a:t>• sidepanel.html/js (State manager, cards rendering)</a:t>
            </a:r>
            <a:endParaRPr/>
          </a:p>
        </p:txBody>
      </p:sp>
      <p:cxnSp>
        <p:nvCxnSpPr>
          <p:cNvPr id="489443850" name="Connector 5"/>
          <p:cNvCxnSpPr/>
          <p:nvPr/>
        </p:nvCxnSpPr>
        <p:spPr bwMode="auto">
          <a:xfrm>
            <a:off x="3333666" y="3524250"/>
            <a:ext cx="666733" cy="0"/>
          </a:xfrm>
          <a:prstGeom prst="line">
            <a:avLst/>
          </a:prstGeom>
          <a:ln w="25400">
            <a:solidFill>
              <a:srgbClr val="1E1E1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766950" name="TextBox 6"/>
          <p:cNvSpPr txBox="1"/>
          <p:nvPr/>
        </p:nvSpPr>
        <p:spPr bwMode="auto">
          <a:xfrm>
            <a:off x="2714557" y="3333749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WS Stream</a:t>
            </a:r>
            <a:endParaRPr/>
          </a:p>
        </p:txBody>
      </p:sp>
      <p:sp>
        <p:nvSpPr>
          <p:cNvPr id="2081228943" name="Rectangle 7"/>
          <p:cNvSpPr/>
          <p:nvPr/>
        </p:nvSpPr>
        <p:spPr bwMode="auto">
          <a:xfrm>
            <a:off x="4095647" y="1143000"/>
            <a:ext cx="7334066" cy="4762500"/>
          </a:xfrm>
          <a:prstGeom prst="rect">
            <a:avLst/>
          </a:prstGeom>
          <a:solidFill>
            <a:srgbClr val="F1F3F5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659009" name="TextBox 8"/>
          <p:cNvSpPr txBox="1"/>
          <p:nvPr/>
        </p:nvSpPr>
        <p:spPr bwMode="auto">
          <a:xfrm>
            <a:off x="4190894" y="1285875"/>
            <a:ext cx="7143571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FastAPI Application Server</a:t>
            </a:r>
            <a:endParaRPr/>
          </a:p>
        </p:txBody>
      </p:sp>
      <p:sp>
        <p:nvSpPr>
          <p:cNvPr id="113499223" name="Rectangle 9"/>
          <p:cNvSpPr/>
          <p:nvPr/>
        </p:nvSpPr>
        <p:spPr bwMode="auto">
          <a:xfrm>
            <a:off x="4381390" y="1714500"/>
            <a:ext cx="3047923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2327071" name="TextBox 10"/>
          <p:cNvSpPr txBox="1"/>
          <p:nvPr/>
        </p:nvSpPr>
        <p:spPr bwMode="auto">
          <a:xfrm>
            <a:off x="4476637" y="1857375"/>
            <a:ext cx="2857788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Pipeline Orchestrator</a:t>
            </a:r>
            <a:endParaRPr sz="1800"/>
          </a:p>
        </p:txBody>
      </p:sp>
      <p:sp>
        <p:nvSpPr>
          <p:cNvPr id="1408088479" name="TextBox 11"/>
          <p:cNvSpPr txBox="1"/>
          <p:nvPr/>
        </p:nvSpPr>
        <p:spPr bwMode="auto">
          <a:xfrm>
            <a:off x="4524260" y="2190748"/>
            <a:ext cx="2763619" cy="1067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400"/>
              <a:t>• orchestrator.py (Manages stages 1-4)</a:t>
            </a:r>
            <a:br>
              <a:rPr sz="1400"/>
            </a:br>
            <a:r>
              <a:rPr sz="1400"/>
              <a:t>• coreference.py (Resolves 'he'/'she')</a:t>
            </a:r>
            <a:br>
              <a:rPr sz="1400"/>
            </a:br>
            <a:r>
              <a:rPr sz="1400"/>
              <a:t>• cache.py (Reads/Writes demo cache)</a:t>
            </a:r>
            <a:endParaRPr/>
          </a:p>
        </p:txBody>
      </p:sp>
      <p:sp>
        <p:nvSpPr>
          <p:cNvPr id="616755897" name="Rectangle 12"/>
          <p:cNvSpPr/>
          <p:nvPr/>
        </p:nvSpPr>
        <p:spPr bwMode="auto">
          <a:xfrm>
            <a:off x="7905552" y="1714500"/>
            <a:ext cx="3238419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8710348" name="TextBox 13"/>
          <p:cNvSpPr txBox="1"/>
          <p:nvPr/>
        </p:nvSpPr>
        <p:spPr bwMode="auto">
          <a:xfrm>
            <a:off x="8000798" y="1857375"/>
            <a:ext cx="3048282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Hybrid Comparison Services</a:t>
            </a:r>
            <a:endParaRPr sz="1800"/>
          </a:p>
        </p:txBody>
      </p:sp>
      <p:sp>
        <p:nvSpPr>
          <p:cNvPr id="547224459" name="TextBox 14"/>
          <p:cNvSpPr txBox="1"/>
          <p:nvPr/>
        </p:nvSpPr>
        <p:spPr bwMode="auto">
          <a:xfrm>
            <a:off x="8048422" y="2190748"/>
            <a:ext cx="2953395" cy="73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• numeric_diff.py (Computes variance &amp; absolute drift)</a:t>
            </a:r>
            <a:br>
              <a:rPr sz="1200"/>
            </a:br>
            <a:r>
              <a:rPr sz="1200"/>
              <a:t>• nli_classifier.py (LLM evaluation: contradiction/consistent)</a:t>
            </a:r>
            <a:endParaRPr sz="1200"/>
          </a:p>
        </p:txBody>
      </p:sp>
      <p:sp>
        <p:nvSpPr>
          <p:cNvPr id="1177875079" name="Rectangle 15"/>
          <p:cNvSpPr/>
          <p:nvPr/>
        </p:nvSpPr>
        <p:spPr bwMode="auto">
          <a:xfrm>
            <a:off x="4381390" y="3714750"/>
            <a:ext cx="3047923" cy="1714500"/>
          </a:xfrm>
          <a:prstGeom prst="rect">
            <a:avLst/>
          </a:prstGeom>
          <a:solidFill>
            <a:srgbClr val="F1F3F5"/>
          </a:solidFill>
          <a:ln w="2540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5255982" name="TextBox 16"/>
          <p:cNvSpPr txBox="1"/>
          <p:nvPr/>
        </p:nvSpPr>
        <p:spPr bwMode="auto">
          <a:xfrm>
            <a:off x="4476637" y="3857625"/>
            <a:ext cx="2857788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Claim Extractor &amp; Search</a:t>
            </a:r>
            <a:endParaRPr sz="1800"/>
          </a:p>
        </p:txBody>
      </p:sp>
      <p:sp>
        <p:nvSpPr>
          <p:cNvPr id="1536841661" name="TextBox 17"/>
          <p:cNvSpPr txBox="1"/>
          <p:nvPr/>
        </p:nvSpPr>
        <p:spPr bwMode="auto">
          <a:xfrm>
            <a:off x="4524260" y="4190998"/>
            <a:ext cx="2762899" cy="1219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600"/>
              <a:t>• claim_extractor.py (Pydantic schema mapping &amp; LLM caller)</a:t>
            </a:r>
            <a:br>
              <a:rPr sz="1600"/>
            </a:br>
            <a:r>
              <a:rPr sz="1600"/>
              <a:t>• temporal_search.py (Pre-date query using SearchType.TEMPORAL)</a:t>
            </a:r>
            <a:endParaRPr sz="1600"/>
          </a:p>
        </p:txBody>
      </p:sp>
      <p:sp>
        <p:nvSpPr>
          <p:cNvPr id="1945210048" name="Rectangle 18"/>
          <p:cNvSpPr/>
          <p:nvPr/>
        </p:nvSpPr>
        <p:spPr bwMode="auto">
          <a:xfrm>
            <a:off x="7905552" y="3714750"/>
            <a:ext cx="3238419" cy="1714500"/>
          </a:xfrm>
          <a:prstGeom prst="rect">
            <a:avLst/>
          </a:prstGeom>
          <a:solidFill>
            <a:srgbClr val="D0EBFF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6587927" name="TextBox 19"/>
          <p:cNvSpPr txBox="1"/>
          <p:nvPr/>
        </p:nvSpPr>
        <p:spPr bwMode="auto">
          <a:xfrm>
            <a:off x="8000798" y="3857625"/>
            <a:ext cx="3048282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Cognee Memory Infrastructure</a:t>
            </a:r>
            <a:endParaRPr sz="1800"/>
          </a:p>
        </p:txBody>
      </p:sp>
      <p:sp>
        <p:nvSpPr>
          <p:cNvPr id="420816850" name="TextBox 20"/>
          <p:cNvSpPr txBox="1"/>
          <p:nvPr/>
        </p:nvSpPr>
        <p:spPr bwMode="auto">
          <a:xfrm>
            <a:off x="8048423" y="4190999"/>
            <a:ext cx="2952675" cy="1095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sqlite (Local graph nodes, edges)</a:t>
            </a:r>
            <a:br>
              <a:rPr/>
            </a:br>
            <a:r>
              <a:rPr/>
              <a:t>• Vector DB (Sentence embeddings)</a:t>
            </a:r>
            <a:br>
              <a:rPr/>
            </a:br>
            <a:r>
              <a:rPr/>
              <a:t>• temporal_cognify=True (Historical timeline builder)</a:t>
            </a:r>
            <a:endParaRPr/>
          </a:p>
        </p:txBody>
      </p:sp>
      <p:cxnSp>
        <p:nvCxnSpPr>
          <p:cNvPr id="578700400" name="Connector 21"/>
          <p:cNvCxnSpPr/>
          <p:nvPr/>
        </p:nvCxnSpPr>
        <p:spPr bwMode="auto">
          <a:xfrm>
            <a:off x="5905351" y="3333749"/>
            <a:ext cx="0" cy="28575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6196728" name="Connector 22"/>
          <p:cNvCxnSpPr/>
          <p:nvPr/>
        </p:nvCxnSpPr>
        <p:spPr bwMode="auto">
          <a:xfrm>
            <a:off x="7524561" y="2476499"/>
            <a:ext cx="285743" cy="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4801804" name="Connector 23"/>
          <p:cNvCxnSpPr/>
          <p:nvPr/>
        </p:nvCxnSpPr>
        <p:spPr bwMode="auto">
          <a:xfrm>
            <a:off x="7524561" y="4572000"/>
            <a:ext cx="285743" cy="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79516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Step-by-Step Data Flow: 2-Second Pipeline</a:t>
            </a:r>
            <a:endParaRPr/>
          </a:p>
        </p:txBody>
      </p:sp>
      <p:sp>
        <p:nvSpPr>
          <p:cNvPr id="2025428904" name="Rectangle 2"/>
          <p:cNvSpPr/>
          <p:nvPr/>
        </p:nvSpPr>
        <p:spPr bwMode="auto">
          <a:xfrm>
            <a:off x="1142971" y="1904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862706" name="TextBox 3"/>
          <p:cNvSpPr txBox="1"/>
          <p:nvPr/>
        </p:nvSpPr>
        <p:spPr bwMode="auto">
          <a:xfrm>
            <a:off x="1238219" y="2047874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1. Stream</a:t>
            </a:r>
            <a:endParaRPr/>
          </a:p>
        </p:txBody>
      </p:sp>
      <p:sp>
        <p:nvSpPr>
          <p:cNvPr id="1931135740" name="TextBox 4"/>
          <p:cNvSpPr txBox="1"/>
          <p:nvPr/>
        </p:nvSpPr>
        <p:spPr bwMode="auto">
          <a:xfrm>
            <a:off x="1285842" y="2381250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Caption DOM Scraped</a:t>
            </a:r>
            <a:br>
              <a:rPr/>
            </a:br>
            <a:r>
              <a:rPr/>
              <a:t>&amp; streamed via WS</a:t>
            </a:r>
            <a:endParaRPr/>
          </a:p>
        </p:txBody>
      </p:sp>
      <p:cxnSp>
        <p:nvCxnSpPr>
          <p:cNvPr id="143176675" name="Connector 5"/>
          <p:cNvCxnSpPr/>
          <p:nvPr/>
        </p:nvCxnSpPr>
        <p:spPr bwMode="auto">
          <a:xfrm>
            <a:off x="4095647" y="2667000"/>
            <a:ext cx="380991" cy="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6180104" name="Rectangle 6"/>
          <p:cNvSpPr/>
          <p:nvPr/>
        </p:nvSpPr>
        <p:spPr bwMode="auto">
          <a:xfrm>
            <a:off x="4571885" y="1904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188608" name="TextBox 7"/>
          <p:cNvSpPr txBox="1"/>
          <p:nvPr/>
        </p:nvSpPr>
        <p:spPr bwMode="auto">
          <a:xfrm>
            <a:off x="4667133" y="2047874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2. Parse</a:t>
            </a:r>
            <a:endParaRPr/>
          </a:p>
        </p:txBody>
      </p:sp>
      <p:sp>
        <p:nvSpPr>
          <p:cNvPr id="792690116" name="TextBox 8"/>
          <p:cNvSpPr txBox="1"/>
          <p:nvPr/>
        </p:nvSpPr>
        <p:spPr bwMode="auto">
          <a:xfrm>
            <a:off x="4714757" y="2381250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WebSocket strips</a:t>
            </a:r>
            <a:br>
              <a:rPr/>
            </a:br>
            <a:r>
              <a:rPr/>
              <a:t>duplicates &amp; fragments</a:t>
            </a:r>
            <a:endParaRPr/>
          </a:p>
        </p:txBody>
      </p:sp>
      <p:cxnSp>
        <p:nvCxnSpPr>
          <p:cNvPr id="1184311592" name="Connector 9"/>
          <p:cNvCxnSpPr/>
          <p:nvPr/>
        </p:nvCxnSpPr>
        <p:spPr bwMode="auto">
          <a:xfrm>
            <a:off x="7524561" y="2667000"/>
            <a:ext cx="380991" cy="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666537" name="Rectangle 10"/>
          <p:cNvSpPr/>
          <p:nvPr/>
        </p:nvSpPr>
        <p:spPr bwMode="auto">
          <a:xfrm>
            <a:off x="8000799" y="1904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172553" name="TextBox 11"/>
          <p:cNvSpPr txBox="1"/>
          <p:nvPr/>
        </p:nvSpPr>
        <p:spPr bwMode="auto">
          <a:xfrm>
            <a:off x="8096047" y="2047874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3. Extract</a:t>
            </a:r>
            <a:endParaRPr/>
          </a:p>
        </p:txBody>
      </p:sp>
      <p:sp>
        <p:nvSpPr>
          <p:cNvPr id="496629351" name="TextBox 12"/>
          <p:cNvSpPr txBox="1"/>
          <p:nvPr/>
        </p:nvSpPr>
        <p:spPr bwMode="auto">
          <a:xfrm>
            <a:off x="8143671" y="2381250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LLM extracts Topic,</a:t>
            </a:r>
            <a:br>
              <a:rPr/>
            </a:br>
            <a:r>
              <a:rPr/>
              <a:t>Value, Claim (JSON)</a:t>
            </a:r>
            <a:endParaRPr/>
          </a:p>
        </p:txBody>
      </p:sp>
      <p:cxnSp>
        <p:nvCxnSpPr>
          <p:cNvPr id="1180164553" name="Connector 13"/>
          <p:cNvCxnSpPr/>
          <p:nvPr/>
        </p:nvCxnSpPr>
        <p:spPr bwMode="auto">
          <a:xfrm>
            <a:off x="9429514" y="3524250"/>
            <a:ext cx="0" cy="571499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2100548" name="Rectangle 14"/>
          <p:cNvSpPr/>
          <p:nvPr/>
        </p:nvSpPr>
        <p:spPr bwMode="auto">
          <a:xfrm>
            <a:off x="1142971" y="4190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161762" name="TextBox 15"/>
          <p:cNvSpPr txBox="1"/>
          <p:nvPr/>
        </p:nvSpPr>
        <p:spPr bwMode="auto">
          <a:xfrm>
            <a:off x="1238219" y="4333875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4. Retrieve</a:t>
            </a:r>
            <a:endParaRPr/>
          </a:p>
        </p:txBody>
      </p:sp>
      <p:sp>
        <p:nvSpPr>
          <p:cNvPr id="1138185975" name="TextBox 16"/>
          <p:cNvSpPr txBox="1"/>
          <p:nvPr/>
        </p:nvSpPr>
        <p:spPr bwMode="auto">
          <a:xfrm>
            <a:off x="1285842" y="4667249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Cognee retrieves facts</a:t>
            </a:r>
            <a:br>
              <a:rPr/>
            </a:br>
            <a:r>
              <a:rPr/>
              <a:t>prior to speech date</a:t>
            </a:r>
            <a:endParaRPr/>
          </a:p>
        </p:txBody>
      </p:sp>
      <p:cxnSp>
        <p:nvCxnSpPr>
          <p:cNvPr id="374927469" name="Connector 17"/>
          <p:cNvCxnSpPr/>
          <p:nvPr/>
        </p:nvCxnSpPr>
        <p:spPr bwMode="auto">
          <a:xfrm>
            <a:off x="4095647" y="4952999"/>
            <a:ext cx="380991" cy="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642775" name="Rectangle 18"/>
          <p:cNvSpPr/>
          <p:nvPr/>
        </p:nvSpPr>
        <p:spPr bwMode="auto">
          <a:xfrm>
            <a:off x="4571885" y="4190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6580333" name="TextBox 19"/>
          <p:cNvSpPr txBox="1"/>
          <p:nvPr/>
        </p:nvSpPr>
        <p:spPr bwMode="auto">
          <a:xfrm>
            <a:off x="4667133" y="4333875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5. Compare</a:t>
            </a:r>
            <a:endParaRPr/>
          </a:p>
        </p:txBody>
      </p:sp>
      <p:sp>
        <p:nvSpPr>
          <p:cNvPr id="1373769042" name="TextBox 20"/>
          <p:cNvSpPr txBox="1"/>
          <p:nvPr/>
        </p:nvSpPr>
        <p:spPr bwMode="auto">
          <a:xfrm>
            <a:off x="4714757" y="4667249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Deterministic Numeric</a:t>
            </a:r>
            <a:br>
              <a:rPr/>
            </a:br>
            <a:r>
              <a:rPr/>
              <a:t>Diff or NLI Verdict</a:t>
            </a:r>
            <a:endParaRPr/>
          </a:p>
        </p:txBody>
      </p:sp>
      <p:cxnSp>
        <p:nvCxnSpPr>
          <p:cNvPr id="996345652" name="Connector 21"/>
          <p:cNvCxnSpPr/>
          <p:nvPr/>
        </p:nvCxnSpPr>
        <p:spPr bwMode="auto">
          <a:xfrm>
            <a:off x="7524561" y="4952999"/>
            <a:ext cx="380991" cy="0"/>
          </a:xfrm>
          <a:prstGeom prst="line">
            <a:avLst/>
          </a:prstGeom>
          <a:ln w="25400">
            <a:solidFill>
              <a:srgbClr val="868E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827486" name="Rectangle 22"/>
          <p:cNvSpPr/>
          <p:nvPr/>
        </p:nvSpPr>
        <p:spPr bwMode="auto">
          <a:xfrm>
            <a:off x="8000799" y="4190999"/>
            <a:ext cx="2857428" cy="15239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5329801" name="TextBox 23"/>
          <p:cNvSpPr txBox="1"/>
          <p:nvPr/>
        </p:nvSpPr>
        <p:spPr bwMode="auto">
          <a:xfrm>
            <a:off x="8096047" y="4333875"/>
            <a:ext cx="2666933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6. Alert</a:t>
            </a:r>
            <a:endParaRPr/>
          </a:p>
        </p:txBody>
      </p:sp>
      <p:sp>
        <p:nvSpPr>
          <p:cNvPr id="601270229" name="TextBox 24"/>
          <p:cNvSpPr txBox="1"/>
          <p:nvPr/>
        </p:nvSpPr>
        <p:spPr bwMode="auto">
          <a:xfrm>
            <a:off x="8143671" y="4667249"/>
            <a:ext cx="2571685" cy="90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Card sent to Client;</a:t>
            </a:r>
            <a:br>
              <a:rPr/>
            </a:br>
            <a:r>
              <a:rPr/>
              <a:t>New claim added to DB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535844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Hybrid Comparison Engine</a:t>
            </a:r>
            <a:endParaRPr/>
          </a:p>
        </p:txBody>
      </p:sp>
      <p:sp>
        <p:nvSpPr>
          <p:cNvPr id="1546793361" name="Rectangle 2"/>
          <p:cNvSpPr/>
          <p:nvPr/>
        </p:nvSpPr>
        <p:spPr bwMode="auto">
          <a:xfrm>
            <a:off x="4667133" y="1428750"/>
            <a:ext cx="2857428" cy="952499"/>
          </a:xfrm>
          <a:prstGeom prst="rect">
            <a:avLst/>
          </a:prstGeom>
          <a:solidFill>
            <a:srgbClr val="F1F3F5"/>
          </a:solidFill>
          <a:ln w="25400">
            <a:solidFill>
              <a:srgbClr val="1C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9516505" name="TextBox 3"/>
          <p:cNvSpPr txBox="1"/>
          <p:nvPr/>
        </p:nvSpPr>
        <p:spPr bwMode="auto">
          <a:xfrm>
            <a:off x="4762379" y="1571625"/>
            <a:ext cx="2667292" cy="244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600"/>
              <a:t>Incoming Structured Claim</a:t>
            </a:r>
            <a:endParaRPr sz="1600"/>
          </a:p>
        </p:txBody>
      </p:sp>
      <p:sp>
        <p:nvSpPr>
          <p:cNvPr id="173069726" name="TextBox 4"/>
          <p:cNvSpPr txBox="1"/>
          <p:nvPr/>
        </p:nvSpPr>
        <p:spPr bwMode="auto">
          <a:xfrm>
            <a:off x="4810003" y="1904998"/>
            <a:ext cx="2572044" cy="36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Extracted by LLM with topic, speaker, value, unit, and statement.</a:t>
            </a:r>
            <a:endParaRPr sz="1200"/>
          </a:p>
        </p:txBody>
      </p:sp>
      <p:cxnSp>
        <p:nvCxnSpPr>
          <p:cNvPr id="1927271863" name="Connector 5"/>
          <p:cNvCxnSpPr/>
          <p:nvPr/>
        </p:nvCxnSpPr>
        <p:spPr bwMode="auto">
          <a:xfrm flipH="1">
            <a:off x="3333666" y="2476499"/>
            <a:ext cx="2762181" cy="47625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724910" name="TextBox 6"/>
          <p:cNvSpPr txBox="1"/>
          <p:nvPr/>
        </p:nvSpPr>
        <p:spPr bwMode="auto">
          <a:xfrm>
            <a:off x="3286042" y="2476498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Numeric Claims</a:t>
            </a:r>
            <a:endParaRPr/>
          </a:p>
        </p:txBody>
      </p:sp>
      <p:cxnSp>
        <p:nvCxnSpPr>
          <p:cNvPr id="290336801" name="Connector 7"/>
          <p:cNvCxnSpPr/>
          <p:nvPr/>
        </p:nvCxnSpPr>
        <p:spPr bwMode="auto">
          <a:xfrm>
            <a:off x="6095847" y="2476499"/>
            <a:ext cx="2762181" cy="476250"/>
          </a:xfrm>
          <a:prstGeom prst="line">
            <a:avLst/>
          </a:prstGeom>
          <a:ln w="25400">
            <a:solidFill>
              <a:srgbClr val="1C7ED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894912" name="TextBox 8"/>
          <p:cNvSpPr txBox="1"/>
          <p:nvPr/>
        </p:nvSpPr>
        <p:spPr bwMode="auto">
          <a:xfrm>
            <a:off x="6953076" y="2476498"/>
            <a:ext cx="1904952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1E1E1E"/>
                </a:solidFill>
                <a:latin typeface="Calibri"/>
              </a:defRPr>
            </a:pPr>
            <a:r>
              <a:rPr/>
              <a:t>Qualitative Claims</a:t>
            </a:r>
            <a:endParaRPr/>
          </a:p>
        </p:txBody>
      </p:sp>
      <p:sp>
        <p:nvSpPr>
          <p:cNvPr id="1987467451" name="Rectangle 9"/>
          <p:cNvSpPr/>
          <p:nvPr/>
        </p:nvSpPr>
        <p:spPr bwMode="auto">
          <a:xfrm>
            <a:off x="1428714" y="3047999"/>
            <a:ext cx="3619409" cy="2095499"/>
          </a:xfrm>
          <a:prstGeom prst="rect">
            <a:avLst/>
          </a:prstGeom>
          <a:solidFill>
            <a:srgbClr val="F1F3F5"/>
          </a:solidFill>
          <a:ln w="254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6958332" name="TextBox 10"/>
          <p:cNvSpPr txBox="1"/>
          <p:nvPr/>
        </p:nvSpPr>
        <p:spPr bwMode="auto">
          <a:xfrm>
            <a:off x="1523961" y="3190873"/>
            <a:ext cx="3429273" cy="244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600"/>
              <a:t>Deterministic Numeric Diff Engine</a:t>
            </a:r>
            <a:endParaRPr sz="1600"/>
          </a:p>
        </p:txBody>
      </p:sp>
      <p:sp>
        <p:nvSpPr>
          <p:cNvPr id="261071124" name="TextBox 11"/>
          <p:cNvSpPr txBox="1"/>
          <p:nvPr/>
        </p:nvSpPr>
        <p:spPr bwMode="auto">
          <a:xfrm>
            <a:off x="1571584" y="3524249"/>
            <a:ext cx="3334385" cy="109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• Checks target metrics (e.g. percentages, counts)</a:t>
            </a:r>
            <a:br>
              <a:rPr sz="1200"/>
            </a:br>
            <a:r>
              <a:rPr sz="1200"/>
              <a:t>• Computes absolute drift and percentage variance</a:t>
            </a:r>
            <a:br>
              <a:rPr sz="1200"/>
            </a:br>
            <a:r>
              <a:rPr sz="1200"/>
              <a:t>• Verifies if difference exceeds acceptable 10% threshold</a:t>
            </a:r>
            <a:br>
              <a:rPr sz="1200"/>
            </a:br>
            <a:r>
              <a:rPr sz="1200"/>
              <a:t>• E.g. 5.9% vs. 4.3% (+1.6% absolute drift, 37.2% variance)</a:t>
            </a:r>
            <a:endParaRPr sz="1200"/>
          </a:p>
        </p:txBody>
      </p:sp>
      <p:sp>
        <p:nvSpPr>
          <p:cNvPr id="1058095356" name="Rectangle 12"/>
          <p:cNvSpPr/>
          <p:nvPr/>
        </p:nvSpPr>
        <p:spPr bwMode="auto">
          <a:xfrm>
            <a:off x="7143571" y="3047999"/>
            <a:ext cx="3619409" cy="2095499"/>
          </a:xfrm>
          <a:prstGeom prst="rect">
            <a:avLst/>
          </a:prstGeom>
          <a:solidFill>
            <a:srgbClr val="F1F3F5"/>
          </a:solidFill>
          <a:ln w="2540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0628921" name="TextBox 13"/>
          <p:cNvSpPr txBox="1"/>
          <p:nvPr/>
        </p:nvSpPr>
        <p:spPr bwMode="auto">
          <a:xfrm>
            <a:off x="7238818" y="3190873"/>
            <a:ext cx="3429273" cy="244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600"/>
              <a:t>LLM Natural Language Inference (NLI)</a:t>
            </a:r>
            <a:endParaRPr sz="1600"/>
          </a:p>
        </p:txBody>
      </p:sp>
      <p:sp>
        <p:nvSpPr>
          <p:cNvPr id="1066407090" name="TextBox 14"/>
          <p:cNvSpPr txBox="1"/>
          <p:nvPr/>
        </p:nvSpPr>
        <p:spPr bwMode="auto">
          <a:xfrm>
            <a:off x="7286441" y="3524249"/>
            <a:ext cx="3334025" cy="146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• Analyzes semantic, policy, and logic drifts</a:t>
            </a:r>
            <a:br>
              <a:rPr sz="1200"/>
            </a:br>
            <a:r>
              <a:rPr sz="1200"/>
              <a:t>• Prompts LLM with new vs. historical statement context</a:t>
            </a:r>
            <a:br>
              <a:rPr sz="1200"/>
            </a:br>
            <a:r>
              <a:rPr sz="1200"/>
              <a:t>• Classifies strictly into three specific categorical labels:</a:t>
            </a:r>
            <a:br>
              <a:rPr sz="1200"/>
            </a:br>
            <a:r>
              <a:rPr sz="1200"/>
              <a:t>  1. Consistent with prior statements</a:t>
            </a:r>
            <a:br>
              <a:rPr sz="1200"/>
            </a:br>
            <a:r>
              <a:rPr sz="1200"/>
              <a:t>  2. Contradicts statement from [date]</a:t>
            </a:r>
            <a:br>
              <a:rPr sz="1200"/>
            </a:br>
            <a:r>
              <a:rPr sz="1200"/>
              <a:t>  3. No prior record</a:t>
            </a:r>
            <a:endParaRPr sz="1200"/>
          </a:p>
        </p:txBody>
      </p:sp>
      <p:cxnSp>
        <p:nvCxnSpPr>
          <p:cNvPr id="1614449894" name="Connector 15"/>
          <p:cNvCxnSpPr/>
          <p:nvPr/>
        </p:nvCxnSpPr>
        <p:spPr bwMode="auto">
          <a:xfrm>
            <a:off x="3238419" y="5238749"/>
            <a:ext cx="2476438" cy="476250"/>
          </a:xfrm>
          <a:prstGeom prst="line">
            <a:avLst/>
          </a:prstGeom>
          <a:ln w="25400">
            <a:solidFill>
              <a:srgbClr val="F7670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574296" name="Connector 16"/>
          <p:cNvCxnSpPr/>
          <p:nvPr/>
        </p:nvCxnSpPr>
        <p:spPr bwMode="auto">
          <a:xfrm flipH="1">
            <a:off x="6476838" y="5238749"/>
            <a:ext cx="2476438" cy="476250"/>
          </a:xfrm>
          <a:prstGeom prst="line">
            <a:avLst/>
          </a:prstGeom>
          <a:ln w="25400">
            <a:solidFill>
              <a:srgbClr val="7048E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819044" name="Rectangle 17"/>
          <p:cNvSpPr/>
          <p:nvPr/>
        </p:nvSpPr>
        <p:spPr bwMode="auto">
          <a:xfrm>
            <a:off x="5048123" y="5810249"/>
            <a:ext cx="2095447" cy="666750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5626208" name="TextBox 18"/>
          <p:cNvSpPr txBox="1"/>
          <p:nvPr/>
        </p:nvSpPr>
        <p:spPr bwMode="auto">
          <a:xfrm>
            <a:off x="5095746" y="5831023"/>
            <a:ext cx="1905311" cy="244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600"/>
              <a:t>Consolidated Verdict</a:t>
            </a:r>
            <a:endParaRPr sz="1600"/>
          </a:p>
        </p:txBody>
      </p:sp>
      <p:sp>
        <p:nvSpPr>
          <p:cNvPr id="842975898" name="TextBox 19"/>
          <p:cNvSpPr txBox="1"/>
          <p:nvPr/>
        </p:nvSpPr>
        <p:spPr bwMode="auto">
          <a:xfrm>
            <a:off x="5190994" y="6103440"/>
            <a:ext cx="1810063" cy="366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 sz="1200"/>
              <a:t>Pushed instantly to Web UI &amp; sidepanel.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647995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Verified Technology Stack</a:t>
            </a:r>
            <a:endParaRPr/>
          </a:p>
        </p:txBody>
      </p:sp>
      <p:sp>
        <p:nvSpPr>
          <p:cNvPr id="1835927411" name="Rectangle 2"/>
          <p:cNvSpPr/>
          <p:nvPr/>
        </p:nvSpPr>
        <p:spPr bwMode="auto">
          <a:xfrm>
            <a:off x="952476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892659" name="TextBox 3"/>
          <p:cNvSpPr txBox="1"/>
          <p:nvPr/>
        </p:nvSpPr>
        <p:spPr bwMode="auto">
          <a:xfrm>
            <a:off x="1047722" y="1857375"/>
            <a:ext cx="2857788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Frontend Client</a:t>
            </a:r>
            <a:endParaRPr sz="1800"/>
          </a:p>
        </p:txBody>
      </p:sp>
      <p:sp>
        <p:nvSpPr>
          <p:cNvPr id="2089808882" name="TextBox 4"/>
          <p:cNvSpPr txBox="1"/>
          <p:nvPr/>
        </p:nvSpPr>
        <p:spPr bwMode="auto">
          <a:xfrm>
            <a:off x="109534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Chrome Extension v3 Architecture</a:t>
            </a:r>
            <a:br>
              <a:rPr/>
            </a:br>
            <a:br>
              <a:rPr/>
            </a:br>
            <a:r>
              <a:rPr/>
              <a:t>• background.js (Manages websocket connections &amp; page scripts)</a:t>
            </a:r>
            <a:br>
              <a:rPr/>
            </a:br>
            <a:br>
              <a:rPr/>
            </a:br>
            <a:r>
              <a:rPr/>
              <a:t>• content.js (YouTube DOM parser, word accumulator)</a:t>
            </a:r>
            <a:br>
              <a:rPr/>
            </a:br>
            <a:br>
              <a:rPr/>
            </a:br>
            <a:r>
              <a:rPr/>
              <a:t>• sidepanel (HTML5/Vanilla JS, Neobrutalist high-contrast CSS design)</a:t>
            </a:r>
            <a:endParaRPr/>
          </a:p>
        </p:txBody>
      </p:sp>
      <p:sp>
        <p:nvSpPr>
          <p:cNvPr id="1737143633" name="Rectangle 5"/>
          <p:cNvSpPr/>
          <p:nvPr/>
        </p:nvSpPr>
        <p:spPr bwMode="auto">
          <a:xfrm>
            <a:off x="457188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231552" name="TextBox 6"/>
          <p:cNvSpPr txBox="1"/>
          <p:nvPr/>
        </p:nvSpPr>
        <p:spPr bwMode="auto">
          <a:xfrm>
            <a:off x="4667132" y="1857375"/>
            <a:ext cx="2857788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API &amp; Processing Layer</a:t>
            </a:r>
            <a:endParaRPr sz="1800"/>
          </a:p>
        </p:txBody>
      </p:sp>
      <p:sp>
        <p:nvSpPr>
          <p:cNvPr id="1982432270" name="TextBox 7"/>
          <p:cNvSpPr txBox="1"/>
          <p:nvPr/>
        </p:nvSpPr>
        <p:spPr bwMode="auto">
          <a:xfrm>
            <a:off x="471475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FastAPI Framework (Fast asynchronous routing &amp; server)</a:t>
            </a:r>
            <a:br>
              <a:rPr/>
            </a:br>
            <a:br>
              <a:rPr/>
            </a:br>
            <a:r>
              <a:rPr/>
              <a:t>• Python 3.10+ (Clean, typed implementation)</a:t>
            </a:r>
            <a:br>
              <a:rPr/>
            </a:br>
            <a:br>
              <a:rPr/>
            </a:br>
            <a:r>
              <a:rPr/>
              <a:t>• Uvicorn (Fast ASGI server handling WebSockets)</a:t>
            </a:r>
            <a:br>
              <a:rPr/>
            </a:br>
            <a:br>
              <a:rPr/>
            </a:br>
            <a:r>
              <a:rPr/>
              <a:t>• Pydantic (Strong schema validation &amp; type parsing)</a:t>
            </a:r>
            <a:endParaRPr/>
          </a:p>
        </p:txBody>
      </p:sp>
      <p:sp>
        <p:nvSpPr>
          <p:cNvPr id="1559677978" name="Rectangle 8"/>
          <p:cNvSpPr/>
          <p:nvPr/>
        </p:nvSpPr>
        <p:spPr bwMode="auto">
          <a:xfrm>
            <a:off x="819129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1393178" name="TextBox 9"/>
          <p:cNvSpPr txBox="1"/>
          <p:nvPr/>
        </p:nvSpPr>
        <p:spPr bwMode="auto">
          <a:xfrm>
            <a:off x="8286541" y="1857375"/>
            <a:ext cx="2857788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 sz="1800"/>
              <a:t>Memory &amp; AI Framework</a:t>
            </a:r>
            <a:endParaRPr sz="1800"/>
          </a:p>
        </p:txBody>
      </p:sp>
      <p:sp>
        <p:nvSpPr>
          <p:cNvPr id="803366916" name="TextBox 10"/>
          <p:cNvSpPr txBox="1"/>
          <p:nvPr/>
        </p:nvSpPr>
        <p:spPr bwMode="auto">
          <a:xfrm>
            <a:off x="8334166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• Cognee Memory Layer (Temporal graph builder via local SQLite + Vector DB)</a:t>
            </a:r>
            <a:br>
              <a:rPr/>
            </a:br>
            <a:br>
              <a:rPr/>
            </a:br>
            <a:r>
              <a:rPr/>
              <a:t>• SearchType.TEMPORAL (Dates filter prior claims)</a:t>
            </a:r>
            <a:br>
              <a:rPr/>
            </a:br>
            <a:br>
              <a:rPr/>
            </a:br>
            <a:r>
              <a:rPr/>
              <a:t>• Stability Cache (Local JSON cache avoids redundant LLM API keys for demo cost reduction)</a:t>
            </a:r>
            <a:endParaRPr/>
          </a:p>
        </p:txBody>
      </p:sp>
      <p:sp>
        <p:nvSpPr>
          <p:cNvPr id="1342906620" name="TextBox 11"/>
          <p:cNvSpPr txBox="1"/>
          <p:nvPr/>
        </p:nvSpPr>
        <p:spPr bwMode="auto">
          <a:xfrm>
            <a:off x="952476" y="5715000"/>
            <a:ext cx="10286742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Licenses verified for hackathon compliance (MIT, Apache 2.0, BSD-3-Clause)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386772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Key Innovations &amp; Engineering Decisions</a:t>
            </a:r>
            <a:endParaRPr/>
          </a:p>
        </p:txBody>
      </p:sp>
      <p:sp>
        <p:nvSpPr>
          <p:cNvPr id="1188359086" name="Rectangle 2"/>
          <p:cNvSpPr/>
          <p:nvPr/>
        </p:nvSpPr>
        <p:spPr bwMode="auto">
          <a:xfrm>
            <a:off x="952476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121554" name="TextBox 3"/>
          <p:cNvSpPr txBox="1"/>
          <p:nvPr/>
        </p:nvSpPr>
        <p:spPr bwMode="auto">
          <a:xfrm>
            <a:off x="104772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Self-Consistency Audit</a:t>
            </a:r>
            <a:endParaRPr/>
          </a:p>
        </p:txBody>
      </p:sp>
      <p:sp>
        <p:nvSpPr>
          <p:cNvPr id="2068023309" name="TextBox 4"/>
          <p:cNvSpPr txBox="1"/>
          <p:nvPr/>
        </p:nvSpPr>
        <p:spPr bwMode="auto">
          <a:xfrm>
            <a:off x="109534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Rather than designing a biased 'general lie detector', we focus exclusively on objective self-consistency.</a:t>
            </a:r>
            <a:br>
              <a:rPr/>
            </a:br>
            <a:br>
              <a:rPr/>
            </a:br>
            <a:r>
              <a:rPr/>
              <a:t>By comparing a speaker solely with their own verified record, we remove political subjectivity from the feedback loop.</a:t>
            </a:r>
            <a:endParaRPr/>
          </a:p>
        </p:txBody>
      </p:sp>
      <p:sp>
        <p:nvSpPr>
          <p:cNvPr id="1283045361" name="Rectangle 5"/>
          <p:cNvSpPr/>
          <p:nvPr/>
        </p:nvSpPr>
        <p:spPr bwMode="auto">
          <a:xfrm>
            <a:off x="457188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00963" name="TextBox 6"/>
          <p:cNvSpPr txBox="1"/>
          <p:nvPr/>
        </p:nvSpPr>
        <p:spPr bwMode="auto">
          <a:xfrm>
            <a:off x="466713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Cognee Graph Memory</a:t>
            </a:r>
            <a:endParaRPr/>
          </a:p>
        </p:txBody>
      </p:sp>
      <p:sp>
        <p:nvSpPr>
          <p:cNvPr id="530049211" name="TextBox 7"/>
          <p:cNvSpPr txBox="1"/>
          <p:nvPr/>
        </p:nvSpPr>
        <p:spPr bwMode="auto">
          <a:xfrm>
            <a:off x="471475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Using Cognee's temporal graph, the system structures facts chronologically.</a:t>
            </a:r>
            <a:br>
              <a:rPr/>
            </a:br>
            <a:br>
              <a:rPr/>
            </a:br>
            <a:r>
              <a:rPr/>
              <a:t>Queries retrieve statements strictly pre-dating the speech, preventing future timeline leakage and ensuring context-aware retrieval.</a:t>
            </a:r>
            <a:endParaRPr/>
          </a:p>
        </p:txBody>
      </p:sp>
      <p:sp>
        <p:nvSpPr>
          <p:cNvPr id="296027519" name="Rectangle 8"/>
          <p:cNvSpPr/>
          <p:nvPr/>
        </p:nvSpPr>
        <p:spPr bwMode="auto">
          <a:xfrm>
            <a:off x="819129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132418" name="TextBox 9"/>
          <p:cNvSpPr txBox="1"/>
          <p:nvPr/>
        </p:nvSpPr>
        <p:spPr bwMode="auto">
          <a:xfrm>
            <a:off x="8286542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Stability Demo Cache</a:t>
            </a:r>
            <a:endParaRPr/>
          </a:p>
        </p:txBody>
      </p:sp>
      <p:sp>
        <p:nvSpPr>
          <p:cNvPr id="142449448" name="TextBox 10"/>
          <p:cNvSpPr txBox="1"/>
          <p:nvPr/>
        </p:nvSpPr>
        <p:spPr bwMode="auto">
          <a:xfrm>
            <a:off x="8334166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A dual write-through/read-through JSON cache sits in front of the LLM pipeline.</a:t>
            </a:r>
            <a:br>
              <a:rPr/>
            </a:br>
            <a:br>
              <a:rPr/>
            </a:br>
            <a:r>
              <a:rPr/>
              <a:t>This guarantees a zero-latency, rate-limit-proof, cost-free demo run for hackathon evaluations, with active bypass for live mode.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070940" name="TextBox 1"/>
          <p:cNvSpPr txBox="1"/>
          <p:nvPr/>
        </p:nvSpPr>
        <p:spPr bwMode="auto">
          <a:xfrm>
            <a:off x="952476" y="476249"/>
            <a:ext cx="1028674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>
                <a:solidFill>
                  <a:srgbClr val="1E1E1E"/>
                </a:solidFill>
                <a:latin typeface="Calibri"/>
              </a:defRPr>
            </a:pPr>
            <a:r>
              <a:rPr/>
              <a:t>Roadmap: What's Next?</a:t>
            </a:r>
            <a:endParaRPr/>
          </a:p>
        </p:txBody>
      </p:sp>
      <p:sp>
        <p:nvSpPr>
          <p:cNvPr id="274642278" name="Rectangle 2"/>
          <p:cNvSpPr/>
          <p:nvPr/>
        </p:nvSpPr>
        <p:spPr bwMode="auto">
          <a:xfrm>
            <a:off x="952476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156610" name="TextBox 3"/>
          <p:cNvSpPr txBox="1"/>
          <p:nvPr/>
        </p:nvSpPr>
        <p:spPr bwMode="auto">
          <a:xfrm>
            <a:off x="104772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Cross-Speaker Analysis</a:t>
            </a:r>
            <a:endParaRPr/>
          </a:p>
        </p:txBody>
      </p:sp>
      <p:sp>
        <p:nvSpPr>
          <p:cNvPr id="1081813707" name="TextBox 4"/>
          <p:cNvSpPr txBox="1"/>
          <p:nvPr/>
        </p:nvSpPr>
        <p:spPr bwMode="auto">
          <a:xfrm>
            <a:off x="109534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Expand Cognee's entity graph to map claims across multiple politicians.</a:t>
            </a:r>
            <a:br>
              <a:rPr/>
            </a:br>
            <a:br>
              <a:rPr/>
            </a:br>
            <a:r>
              <a:rPr/>
              <a:t>This allows tracing how stances spread between colleagues or drift during debates between opposing candidates.</a:t>
            </a:r>
            <a:endParaRPr/>
          </a:p>
        </p:txBody>
      </p:sp>
      <p:sp>
        <p:nvSpPr>
          <p:cNvPr id="80253012" name="Rectangle 5"/>
          <p:cNvSpPr/>
          <p:nvPr/>
        </p:nvSpPr>
        <p:spPr bwMode="auto">
          <a:xfrm>
            <a:off x="457188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525068" name="TextBox 6"/>
          <p:cNvSpPr txBox="1"/>
          <p:nvPr/>
        </p:nvSpPr>
        <p:spPr bwMode="auto">
          <a:xfrm>
            <a:off x="4667133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Auto-Ingestion Pipelines</a:t>
            </a:r>
            <a:endParaRPr/>
          </a:p>
        </p:txBody>
      </p:sp>
      <p:sp>
        <p:nvSpPr>
          <p:cNvPr id="823651341" name="TextBox 7"/>
          <p:cNvSpPr txBox="1"/>
          <p:nvPr/>
        </p:nvSpPr>
        <p:spPr bwMode="auto">
          <a:xfrm>
            <a:off x="4714757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Integrate scrapers that watch congressional logs, transcripts of press releases, and news portals.</a:t>
            </a:r>
            <a:br>
              <a:rPr/>
            </a:br>
            <a:br>
              <a:rPr/>
            </a:br>
            <a:r>
              <a:rPr/>
              <a:t>This automates historical memory population, keeping database records constantly synchronized without manual JSON seeding.</a:t>
            </a:r>
            <a:endParaRPr/>
          </a:p>
        </p:txBody>
      </p:sp>
      <p:sp>
        <p:nvSpPr>
          <p:cNvPr id="1020887357" name="Rectangle 8"/>
          <p:cNvSpPr/>
          <p:nvPr/>
        </p:nvSpPr>
        <p:spPr bwMode="auto">
          <a:xfrm>
            <a:off x="8191295" y="1714500"/>
            <a:ext cx="3047923" cy="3619499"/>
          </a:xfrm>
          <a:prstGeom prst="rect">
            <a:avLst/>
          </a:prstGeom>
          <a:solidFill>
            <a:srgbClr val="F1F3F5"/>
          </a:solidFill>
          <a:ln w="254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7207350" name="TextBox 9"/>
          <p:cNvSpPr txBox="1"/>
          <p:nvPr/>
        </p:nvSpPr>
        <p:spPr bwMode="auto">
          <a:xfrm>
            <a:off x="8286542" y="1857375"/>
            <a:ext cx="2857428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>
                <a:solidFill>
                  <a:srgbClr val="1E1E1E"/>
                </a:solidFill>
                <a:latin typeface="Calibri"/>
              </a:defRPr>
            </a:pPr>
            <a:r>
              <a:rPr/>
              <a:t>WebRTC Audio Capture</a:t>
            </a:r>
            <a:endParaRPr/>
          </a:p>
        </p:txBody>
      </p:sp>
      <p:sp>
        <p:nvSpPr>
          <p:cNvPr id="383009494" name="TextBox 10"/>
          <p:cNvSpPr txBox="1"/>
          <p:nvPr/>
        </p:nvSpPr>
        <p:spPr bwMode="auto">
          <a:xfrm>
            <a:off x="8334166" y="2190749"/>
            <a:ext cx="2762180" cy="3000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>
                <a:solidFill>
                  <a:srgbClr val="1E1E1E"/>
                </a:solidFill>
                <a:latin typeface="Calibri"/>
              </a:defRPr>
            </a:pPr>
            <a:r>
              <a:rPr/>
              <a:t>Incorporate a browser audio capture API to transcribe audio streams using whisper/live models.</a:t>
            </a:r>
            <a:br>
              <a:rPr/>
            </a:br>
            <a:br>
              <a:rPr/>
            </a:br>
            <a:r>
              <a:rPr/>
              <a:t>This frees the user from relying on pre-existing DOM caption elements, enabling audio fact-checking on any webpage.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2026-07-06T08:04:43Z</dcterms:modified>
  <cp:category/>
</cp:coreProperties>
</file>